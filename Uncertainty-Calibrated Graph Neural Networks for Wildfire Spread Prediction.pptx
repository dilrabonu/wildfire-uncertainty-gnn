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6" r:id="rId7"/>
    <p:sldId id="260" r:id="rId8"/>
    <p:sldId id="267" r:id="rId9"/>
    <p:sldId id="268" r:id="rId10"/>
    <p:sldId id="262" r:id="rId11"/>
    <p:sldId id="263" r:id="rId12"/>
    <p:sldId id="264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0785-363E-520F-F909-4699C6F1F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DB930-F2B4-9E50-4FA3-E06C4D8D3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4F06E-8C83-0039-E914-9EA1E991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8408F-B205-293E-2FF7-B5AE71DA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A8D2-FA42-DF2C-11D4-00C5BF7E9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3F42-CF51-B269-FB76-73DF5AF4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C7634-0989-88FB-0694-83078474D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973F-7B05-7E20-B8F2-3AD72BFF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AECA-E7C6-1720-D4B3-2AE656BE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772FC-F797-538B-938B-FEE90C34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1514-9B0F-DA2C-FB59-3CAA966F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3AAF3-51CA-A429-3537-4AA1D7393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5D720-2D94-DABE-7DEE-746F177D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CE8B-AFE8-209B-8DC1-94B482F6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E6B01-224C-10F7-9CAE-7702EC17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3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4C016-C9A3-9509-770C-A9F48D30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BEA8-1806-8902-4069-CC29ACA05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9AE2C-25B2-E63D-9D22-34A408AF8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5345E-D5F3-E792-6FFD-C32E5C2F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F5194-B1F1-02E9-1DBA-9ABB9E59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9048A-463F-FA38-64C7-90C95862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9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F96C-C235-D97C-405B-ECDDBE1A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BA1BD-2CBE-D907-E93B-C54E82903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9FDEE-1541-33FE-1C0B-A28EA6E4E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0D5C2-739D-9BDF-D03F-7FDABA103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3AF97-7012-7077-FF77-E98910E26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2A6C2-2D9D-D433-F325-24A462E6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AA34F-D89D-F21B-7C26-7346DE4C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21B3F-76F5-BC24-EC07-53EE5044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0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C6B6-CFD7-ED93-DFEA-B981654E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4648A-DADB-EFE8-CE7A-2C886A72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BADF4-99BA-443C-5C4E-DE3F693F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E309F-A843-2505-62EB-9263185F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3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B31DC-8350-07CD-E0F3-9E9A91C5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6CE3A-8B1F-24BF-C672-8BE2043A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2CD86-86A4-0B20-B0B1-90AE5441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1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27F2-0917-D835-C410-D5FC5940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C06D-138D-F63F-2D20-603251B9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91DE4-E24D-2267-41C6-D97B254A7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B68EF-8703-799E-8BA3-D693C937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97148-8FE9-7183-3EFE-B67BBC61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A8DFA-080E-61EB-03AC-061E7397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4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7543-C607-F2EC-72A0-F31F0ADA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90AAF-2198-5736-C028-28C1A987D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12E09-041E-1C63-1435-ED8263048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8B7C6-CE0A-3A4C-0BFA-F5120C18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C6C62-3E3C-2CA7-E1A1-47F535B0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C4652-7E02-218D-847A-AF03A663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4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008D-95BC-73A0-4D4D-F1234338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2CE68-C592-A5AC-9F47-9642A1EFD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E8BCB-0521-54CC-3DEE-04161781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73A7B-FB85-B486-FAD5-05D9A299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D81E-3B94-E219-741D-912F5FD4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4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F26B4A-EB06-6613-67AE-225385F6D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53CF3-FF31-C495-8D3D-E3D3A87B4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BB6F-F672-E10C-5B28-0C90F240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4CDE2-06D3-C783-A2A6-B95AD267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1634-378E-B512-4D53-38D58825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2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A8FED-99C6-070A-0EA2-FD0EB9B32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0C2A6-E737-09A8-104C-795736FD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4BBF4-C27D-F992-5A49-F881FCEBE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50AED-9232-4F31-8F1B-51A9A22683E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2554-84CB-2838-EA23-EA0EB7E78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1C4F7-2A5C-928B-DC4C-ECF14E916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454A2-466B-4374-B8C3-9719C1D61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2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7579289" TargetMode="External"/><Relationship Id="rId2" Type="http://schemas.openxmlformats.org/officeDocument/2006/relationships/hyperlink" Target="https://www.sciencedirect.com/science/article/pii/S235234092501024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9EC3-EDEC-B3A8-FC29-52C550225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314876"/>
          </a:xfrm>
        </p:spPr>
        <p:txBody>
          <a:bodyPr>
            <a:normAutofit/>
          </a:bodyPr>
          <a:lstStyle/>
          <a:p>
            <a:r>
              <a:rPr lang="en-US" dirty="0"/>
              <a:t>Uncertainty-Calibrated Graph Neural Networks for Wildfire Spread Prediction under Stochastic Simulation</a:t>
            </a:r>
          </a:p>
        </p:txBody>
      </p:sp>
    </p:spTree>
    <p:extLst>
      <p:ext uri="{BB962C8B-B14F-4D97-AF65-F5344CB8AC3E}">
        <p14:creationId xmlns:p14="http://schemas.microsoft.com/office/powerpoint/2010/main" val="361088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C574-DFDE-9D34-7019-A41BE416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84AD7B-5793-F1DC-604A-BEB5AC22A2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03582"/>
            <a:ext cx="990845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https://www.sciencedirect.com/science/article/pii/S2352340925010248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https://zenodo.org/records/17579289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Wildfires cause massive environmental and economic damage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alone is not enough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require: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Reliable estimates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Uncertainty awareness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Actionable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12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B3C8D-D793-6F8F-68E1-43BB3F5F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9C978-9D5D-62F3-E2DB-340A9D67D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Target Variable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Burn Probability (per spatial cell) </a:t>
            </a:r>
          </a:p>
          <a:p>
            <a:pPr marL="0" indent="0">
              <a:buNone/>
            </a:pPr>
            <a:r>
              <a:rPr lang="en-US" dirty="0"/>
              <a:t>	Range: ~0 to 0.25 </a:t>
            </a:r>
          </a:p>
          <a:p>
            <a:pPr marL="0" indent="0">
              <a:buNone/>
            </a:pPr>
            <a:r>
              <a:rPr lang="en-US" dirty="0"/>
              <a:t>	Highly skewed toward low values </a:t>
            </a:r>
          </a:p>
          <a:p>
            <a:r>
              <a:rPr lang="en-US" b="1" dirty="0"/>
              <a:t>Input Features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CFL (Canopy Fuel Load) </a:t>
            </a:r>
          </a:p>
          <a:p>
            <a:pPr marL="0" indent="0">
              <a:buNone/>
            </a:pPr>
            <a:r>
              <a:rPr lang="en-US" dirty="0"/>
              <a:t>	FSP Index </a:t>
            </a:r>
          </a:p>
          <a:p>
            <a:pPr marL="0" indent="0">
              <a:buNone/>
            </a:pPr>
            <a:r>
              <a:rPr lang="en-US" dirty="0"/>
              <a:t>	Ignition Probability </a:t>
            </a:r>
          </a:p>
          <a:p>
            <a:pPr marL="0" indent="0">
              <a:buNone/>
            </a:pPr>
            <a:r>
              <a:rPr lang="en-US" dirty="0"/>
              <a:t>	Structural Exposure Index </a:t>
            </a:r>
          </a:p>
          <a:p>
            <a:pPr marL="0" indent="0">
              <a:buNone/>
            </a:pPr>
            <a:r>
              <a:rPr lang="en-US" dirty="0"/>
              <a:t>	Fuel Models (categorical) </a:t>
            </a:r>
          </a:p>
          <a:p>
            <a:r>
              <a:rPr lang="en-US" b="1" dirty="0"/>
              <a:t>Data Type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Raster-based geospatial data </a:t>
            </a:r>
          </a:p>
          <a:p>
            <a:pPr marL="0" indent="0">
              <a:buNone/>
            </a:pPr>
            <a:r>
              <a:rPr lang="en-US" dirty="0"/>
              <a:t>	Converted into graph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0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5918-958B-6379-FF2B-4FC8D541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64B3-FC15-F641-80DC-C21C2C10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= real-world uncertainty ignored </a:t>
            </a:r>
          </a:p>
          <a:p>
            <a:r>
              <a:rPr lang="en-US" dirty="0"/>
              <a:t>Poor calibration (overconfident models) </a:t>
            </a:r>
          </a:p>
          <a:p>
            <a:r>
              <a:rPr lang="en-US" dirty="0"/>
              <a:t>No intervention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17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C806-AA77-7992-C4EC-44D7DF8D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Graph Representation</a:t>
            </a:r>
          </a:p>
          <a:p>
            <a:pPr marL="0" indent="0">
              <a:buNone/>
            </a:pPr>
            <a:r>
              <a:rPr lang="en-US" dirty="0"/>
              <a:t>Nodes: 300K spatial cells </a:t>
            </a:r>
          </a:p>
          <a:p>
            <a:pPr marL="0" indent="0">
              <a:buNone/>
            </a:pPr>
            <a:r>
              <a:rPr lang="en-US" dirty="0"/>
              <a:t>Edges: ~1M (8-neighbor connectivity) </a:t>
            </a:r>
          </a:p>
          <a:p>
            <a:pPr marL="0" indent="0">
              <a:buNone/>
            </a:pPr>
            <a:r>
              <a:rPr lang="en-US" dirty="0"/>
              <a:t>Features: 7 per node </a:t>
            </a:r>
          </a:p>
          <a:p>
            <a:r>
              <a:rPr lang="en-US" b="1" dirty="0"/>
              <a:t>Feature Composition</a:t>
            </a:r>
          </a:p>
          <a:p>
            <a:pPr marL="0" indent="0">
              <a:buNone/>
            </a:pPr>
            <a:r>
              <a:rPr lang="en-US" dirty="0"/>
              <a:t>Continuous: CFL, FSP, Ignition, Structural Exposure </a:t>
            </a:r>
          </a:p>
          <a:p>
            <a:pPr marL="0" indent="0">
              <a:buNone/>
            </a:pPr>
            <a:r>
              <a:rPr lang="en-US" dirty="0"/>
              <a:t>Categorical: Fuel Models (24 classes) </a:t>
            </a:r>
          </a:p>
          <a:p>
            <a:pPr marL="0" indent="0">
              <a:buNone/>
            </a:pPr>
            <a:r>
              <a:rPr lang="en-US" dirty="0"/>
              <a:t>Spatial: </a:t>
            </a:r>
            <a:r>
              <a:rPr lang="en-US" dirty="0" err="1"/>
              <a:t>row_norm</a:t>
            </a:r>
            <a:r>
              <a:rPr lang="en-US" dirty="0"/>
              <a:t>, </a:t>
            </a:r>
            <a:r>
              <a:rPr lang="en-US" dirty="0" err="1"/>
              <a:t>col_norm</a:t>
            </a:r>
            <a:r>
              <a:rPr lang="en-US" dirty="0"/>
              <a:t> </a:t>
            </a:r>
          </a:p>
          <a:p>
            <a:r>
              <a:rPr lang="en-US" b="1" dirty="0"/>
              <a:t>Data Processing</a:t>
            </a:r>
          </a:p>
          <a:p>
            <a:pPr marL="0" indent="0">
              <a:buNone/>
            </a:pPr>
            <a:r>
              <a:rPr lang="en-US" dirty="0"/>
              <a:t>Z-score normalization (mean ≈ 0, std ≈ 1) </a:t>
            </a:r>
          </a:p>
          <a:p>
            <a:pPr marL="0" indent="0">
              <a:buNone/>
            </a:pPr>
            <a:r>
              <a:rPr lang="en-US" dirty="0"/>
              <a:t>No missing / invalid values </a:t>
            </a:r>
          </a:p>
          <a:p>
            <a:pPr marL="0" indent="0">
              <a:buNone/>
            </a:pPr>
            <a:r>
              <a:rPr lang="en-US" dirty="0"/>
              <a:t>All </a:t>
            </a:r>
            <a:r>
              <a:rPr lang="en-US" dirty="0" err="1"/>
              <a:t>rasters</a:t>
            </a:r>
            <a:r>
              <a:rPr lang="en-US" dirty="0"/>
              <a:t> aligned to common grid </a:t>
            </a:r>
          </a:p>
          <a:p>
            <a:r>
              <a:rPr lang="en-US" b="1" dirty="0"/>
              <a:t>Target Characteristics</a:t>
            </a:r>
          </a:p>
          <a:p>
            <a:pPr marL="0" indent="0">
              <a:buNone/>
            </a:pPr>
            <a:r>
              <a:rPr lang="en-US" dirty="0"/>
              <a:t>Burn probability ∈ [0, 0.25] </a:t>
            </a:r>
          </a:p>
          <a:p>
            <a:pPr marL="0" indent="0">
              <a:buNone/>
            </a:pPr>
            <a:r>
              <a:rPr lang="en-US" dirty="0"/>
              <a:t>Highly skewed (most values near zero) </a:t>
            </a:r>
          </a:p>
          <a:p>
            <a:pPr marL="0" indent="0">
              <a:buNone/>
            </a:pPr>
            <a:r>
              <a:rPr lang="en-US" dirty="0"/>
              <a:t>Imbalanced regression problem</a:t>
            </a:r>
          </a:p>
        </p:txBody>
      </p:sp>
    </p:spTree>
    <p:extLst>
      <p:ext uri="{BB962C8B-B14F-4D97-AF65-F5344CB8AC3E}">
        <p14:creationId xmlns:p14="http://schemas.microsoft.com/office/powerpoint/2010/main" val="379607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C823E8-6BEF-1469-4145-AB65A5C59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168" y="1547918"/>
            <a:ext cx="8645029" cy="462904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877B337-69E3-7881-45A8-9073C4C74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740"/>
            <a:ext cx="62901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 MLP </a:t>
            </a:r>
          </a:p>
        </p:txBody>
      </p:sp>
    </p:spTree>
    <p:extLst>
      <p:ext uri="{BB962C8B-B14F-4D97-AF65-F5344CB8AC3E}">
        <p14:creationId xmlns:p14="http://schemas.microsoft.com/office/powerpoint/2010/main" val="101591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AB655-A8BB-68EE-9300-BAB64A006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619432"/>
            <a:ext cx="10675374" cy="5557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Critical Insight</a:t>
            </a:r>
          </a:p>
          <a:p>
            <a:r>
              <a:rPr lang="en-US" dirty="0"/>
              <a:t>Random split is misleading (spatial leakage) </a:t>
            </a:r>
          </a:p>
          <a:p>
            <a:r>
              <a:rPr lang="en-US" dirty="0"/>
              <a:t>Models fail on unseen regions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5EE899-D2EE-67D0-FE89-1D6A452514F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784467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95538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22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(R² ≈ 0.97)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3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Spatial 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Collapse (R² &lt;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14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56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6633-3CA7-C8C7-F43C-C61AD3FB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68DF3-09E3-432E-042D-AA2011D6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Objective</a:t>
            </a:r>
          </a:p>
          <a:p>
            <a:pPr marL="0" indent="0">
              <a:buNone/>
            </a:pPr>
            <a:r>
              <a:rPr lang="en-US" dirty="0"/>
              <a:t>Capture local spatial context </a:t>
            </a:r>
          </a:p>
          <a:p>
            <a:pPr marL="0" indent="0">
              <a:buNone/>
            </a:pPr>
            <a:r>
              <a:rPr lang="en-US" dirty="0"/>
              <a:t>Improve over tabular baselines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Approach</a:t>
            </a:r>
          </a:p>
          <a:p>
            <a:pPr marL="0" indent="0">
              <a:buNone/>
            </a:pPr>
            <a:r>
              <a:rPr lang="en-US" dirty="0"/>
              <a:t>15×15 spatial patches </a:t>
            </a:r>
          </a:p>
          <a:p>
            <a:pPr marL="0" indent="0">
              <a:buNone/>
            </a:pPr>
            <a:r>
              <a:rPr lang="en-US" dirty="0"/>
              <a:t>Multi-channel input (5 features) </a:t>
            </a:r>
          </a:p>
          <a:p>
            <a:pPr marL="0" indent="0">
              <a:buNone/>
            </a:pPr>
            <a:r>
              <a:rPr lang="en-US" dirty="0"/>
              <a:t>Stratified sampling (balance target distribution)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83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2938-90E0-FE63-DB8B-C279A69C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07804"/>
          </a:xfrm>
        </p:spPr>
        <p:txBody>
          <a:bodyPr>
            <a:noAutofit/>
          </a:bodyPr>
          <a:lstStyle/>
          <a:p>
            <a:r>
              <a:rPr lang="en-US" sz="2400" b="1" dirty="0"/>
              <a:t>Key Insight</a:t>
            </a:r>
            <a:br>
              <a:rPr lang="en-US" sz="2400" b="1" dirty="0"/>
            </a:br>
            <a:r>
              <a:rPr lang="en-US" sz="2400" dirty="0"/>
              <a:t>CNN captures local patterns </a:t>
            </a:r>
            <a:br>
              <a:rPr lang="en-US" sz="2400" dirty="0"/>
            </a:br>
            <a:r>
              <a:rPr lang="en-US" sz="2400" dirty="0"/>
              <a:t>Improves generalization </a:t>
            </a:r>
            <a:br>
              <a:rPr lang="en-US" sz="2400" dirty="0"/>
            </a:br>
            <a:r>
              <a:rPr lang="en-US" sz="2400" dirty="0"/>
              <a:t>Still struggles on unseen regions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AABFDE-15FF-4B6D-D461-251467D41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766" y="2560502"/>
            <a:ext cx="9488224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33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2D62-57AD-93B1-51A5-DF941A5B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13A6D-64BE-A587-A9E6-FB2AEBE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92" y="2379406"/>
            <a:ext cx="10980363" cy="31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87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429C-0A52-9C5D-900F-C6052819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GNN Fails (Current Setup)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CC5B9-A015-11B7-BF7B-1BC36694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Root Causes</a:t>
            </a:r>
          </a:p>
          <a:p>
            <a:r>
              <a:rPr lang="en-US" dirty="0"/>
              <a:t>Highly imbalanced target (dominant low values) </a:t>
            </a:r>
          </a:p>
          <a:p>
            <a:r>
              <a:rPr lang="en-US" dirty="0"/>
              <a:t>MSE loss favors near-zero predictions </a:t>
            </a:r>
          </a:p>
          <a:p>
            <a:r>
              <a:rPr lang="en-US" dirty="0"/>
              <a:t>No stratified sampling (unlike CNN) </a:t>
            </a:r>
          </a:p>
          <a:p>
            <a:r>
              <a:rPr lang="en-US" dirty="0"/>
              <a:t>Strong spatial distribution shift </a:t>
            </a:r>
          </a:p>
          <a:p>
            <a:r>
              <a:rPr lang="en-US" dirty="0"/>
              <a:t>Limited local context vs CNN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895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EB92-3097-888A-F942-3F16C5F3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Work &amp; Contribution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C5C18-6914-80A2-AD63-12DAAA12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Next Steps</a:t>
            </a:r>
          </a:p>
          <a:p>
            <a:r>
              <a:rPr lang="en-US" dirty="0"/>
              <a:t>Weighted loss </a:t>
            </a:r>
          </a:p>
          <a:p>
            <a:r>
              <a:rPr lang="en-US" dirty="0"/>
              <a:t>Target transformation </a:t>
            </a:r>
          </a:p>
          <a:p>
            <a:r>
              <a:rPr lang="en-US" dirty="0"/>
              <a:t>Stratified node sampling </a:t>
            </a:r>
          </a:p>
          <a:p>
            <a:r>
              <a:rPr lang="en-US" dirty="0"/>
              <a:t>Uncertainty modeling (MC Dropout, NLL) </a:t>
            </a:r>
          </a:p>
          <a:p>
            <a:r>
              <a:rPr lang="en-US" dirty="0"/>
              <a:t>CNN + GNN hybrid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66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CF65-F8D9-2BE9-DE52-448C1D88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6 (Last)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B685-A35B-1BF4-AC3F-4C17B66D2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Raster → Graph → GNN → Uncertainty → Intervention → Output</a:t>
            </a:r>
          </a:p>
        </p:txBody>
      </p:sp>
    </p:spTree>
    <p:extLst>
      <p:ext uri="{BB962C8B-B14F-4D97-AF65-F5344CB8AC3E}">
        <p14:creationId xmlns:p14="http://schemas.microsoft.com/office/powerpoint/2010/main" val="3972951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397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Uncertainty-Calibrated Graph Neural Networks for Wildfire Spread Prediction under Stochastic Simulation</vt:lpstr>
      <vt:lpstr>Address</vt:lpstr>
      <vt:lpstr>About dataset</vt:lpstr>
      <vt:lpstr>Gaps </vt:lpstr>
      <vt:lpstr>PowerPoint Presentation</vt:lpstr>
      <vt:lpstr> Random Forest , XGBoost,  MLP </vt:lpstr>
      <vt:lpstr>PowerPoint Presentation</vt:lpstr>
      <vt:lpstr>CNN Baseline</vt:lpstr>
      <vt:lpstr>Key Insight CNN captures local patterns  Improves generalization  Still struggles on unseen regions </vt:lpstr>
      <vt:lpstr>GNN</vt:lpstr>
      <vt:lpstr>Why GNN Fails (Current Setup) </vt:lpstr>
      <vt:lpstr>Future Work &amp; Contribution </vt:lpstr>
      <vt:lpstr>Phase 6 (Last)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Dilrabo Khidirova</dc:creator>
  <cp:lastModifiedBy>Dilrabo Khidirova</cp:lastModifiedBy>
  <cp:revision>14</cp:revision>
  <dcterms:created xsi:type="dcterms:W3CDTF">2026-04-08T06:56:14Z</dcterms:created>
  <dcterms:modified xsi:type="dcterms:W3CDTF">2026-04-08T08:45:31Z</dcterms:modified>
</cp:coreProperties>
</file>